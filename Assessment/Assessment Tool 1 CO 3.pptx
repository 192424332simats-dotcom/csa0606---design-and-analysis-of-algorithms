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4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7.xml"/><Relationship Id="rId3" Type="http://schemas.openxmlformats.org/officeDocument/2006/relationships/image" Target="../media/image1.png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0.xml"/><Relationship Id="rId3" Type="http://schemas.openxmlformats.org/officeDocument/2006/relationships/image" Target="../media/image2.png"/><Relationship Id="rId2" Type="http://schemas.openxmlformats.org/officeDocument/2006/relationships/tags" Target="../tags/tag79.xml"/><Relationship Id="rId1" Type="http://schemas.openxmlformats.org/officeDocument/2006/relationships/tags" Target="../tags/tag78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3.xml"/><Relationship Id="rId3" Type="http://schemas.openxmlformats.org/officeDocument/2006/relationships/image" Target="../media/image3.png"/><Relationship Id="rId2" Type="http://schemas.openxmlformats.org/officeDocument/2006/relationships/tags" Target="../tags/tag82.xml"/><Relationship Id="rId1" Type="http://schemas.openxmlformats.org/officeDocument/2006/relationships/tags" Target="../tags/tag81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6.xml"/><Relationship Id="rId2" Type="http://schemas.openxmlformats.org/officeDocument/2006/relationships/tags" Target="../tags/tag85.xml"/><Relationship Id="rId1" Type="http://schemas.openxmlformats.org/officeDocument/2006/relationships/tags" Target="../tags/tag8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7.xml"/><Relationship Id="rId1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80" y="914400"/>
            <a:ext cx="9799320" cy="1156335"/>
          </a:xfrm>
        </p:spPr>
        <p:txBody>
          <a:bodyPr>
            <a:normAutofit fontScale="90000"/>
          </a:bodyPr>
          <a:p>
            <a:r>
              <a:rPr lang="en-US" altLang="en-US" sz="3890"/>
              <a:t>Growth Rate Comparison Using Graphs</a:t>
            </a:r>
            <a:endParaRPr lang="en-US" altLang="en-US" sz="389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2792685"/>
            <a:ext cx="9799200" cy="1472400"/>
          </a:xfrm>
        </p:spPr>
        <p:txBody>
          <a:bodyPr>
            <a:noAutofit/>
          </a:bodyPr>
          <a:p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Name: </a:t>
            </a:r>
            <a:r>
              <a:rPr lang="en-US" altLang="en-US" sz="20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Udhayakumar U</a:t>
            </a:r>
            <a:endParaRPr lang="en-US" altLang="en-US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Register Number:</a:t>
            </a:r>
            <a:r>
              <a:rPr lang="en-US" altLang="en-US" sz="20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192424332</a:t>
            </a:r>
            <a:endParaRPr lang="en-US" altLang="en-US" sz="20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Department:</a:t>
            </a:r>
            <a:r>
              <a:rPr lang="en-US" altLang="en-US" sz="20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AI &amp; DS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Subject: </a:t>
            </a:r>
            <a:r>
              <a:rPr lang="en-US" altLang="en-US" sz="20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Design And Analysis Algorithms</a:t>
            </a:r>
            <a:endParaRPr lang="en-US" altLang="en-US" sz="20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1969135" y="5191125"/>
            <a:ext cx="6639560" cy="8229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/>
              <a:t>                                </a:t>
            </a:r>
            <a:r>
              <a:rPr lang="en-US" altLang="en-US" sz="2500"/>
              <a:t>TECHNICAL PRESENTATION</a:t>
            </a:r>
            <a:endParaRPr lang="en-US" altLang="en-US" sz="2500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Problem Statement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728525"/>
            <a:ext cx="10969200" cy="4759200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alt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Compare the growth rates of O(n), O(n log n), and O(n²) using graphical representation.</a:t>
            </a:r>
            <a:endParaRPr lang="en-US" altLang="en-US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The presentation should:</a:t>
            </a:r>
            <a:endParaRPr lang="en-US" altLang="en-US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US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Define input range</a:t>
            </a:r>
            <a:endParaRPr lang="en-US" altLang="en-US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State assumptions</a:t>
            </a:r>
            <a:endParaRPr lang="en-US" altLang="en-US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Compare using graph and table</a:t>
            </a:r>
            <a:endParaRPr lang="en-US" altLang="en-US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Explain which grows faster</a:t>
            </a:r>
            <a:endParaRPr lang="en-US" altLang="en-US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Justify the conclusion</a:t>
            </a:r>
            <a:endParaRPr lang="en-US" altLang="en-US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Provide insights for selecting algorithms</a:t>
            </a:r>
            <a:endParaRPr lang="en-US" altLang="en-US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260420" y="178505"/>
            <a:ext cx="10969200" cy="705600"/>
          </a:xfrm>
        </p:spPr>
        <p:txBody>
          <a:bodyPr/>
          <a:p>
            <a:r>
              <a:rPr lang="en-US" altLang="en-US"/>
              <a:t>Introduction to Time Complexity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784860" y="1473200"/>
            <a:ext cx="10445115" cy="5173980"/>
          </a:xfrm>
        </p:spPr>
        <p:txBody>
          <a:bodyPr>
            <a:noAutofit/>
          </a:bodyPr>
          <a:p>
            <a:pPr algn="l">
              <a:buFont typeface="Wingdings" panose="05000000000000000000" charset="0"/>
              <a:buChar char="Ø"/>
            </a:pPr>
            <a:r>
              <a:rPr lang="en-US" altLang="en-US" sz="15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Time complexity measures how the execution time of an algorithm increases as the input size (n) grows.</a:t>
            </a:r>
            <a:endParaRPr lang="en-US" altLang="en-US" sz="15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buFont typeface="Wingdings" panose="05000000000000000000" charset="0"/>
              <a:buChar char="Ø"/>
            </a:pPr>
            <a:endParaRPr lang="en-US" altLang="en-US" sz="15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l">
              <a:buFont typeface="Wingdings" panose="05000000000000000000" charset="0"/>
              <a:buNone/>
            </a:pPr>
            <a:r>
              <a:rPr lang="en-US" altLang="en-US" sz="15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Examples</a:t>
            </a:r>
            <a:endParaRPr lang="en-US" altLang="en-US" sz="15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l">
              <a:buFont typeface="Wingdings" panose="05000000000000000000" charset="0"/>
              <a:buNone/>
            </a:pPr>
            <a:r>
              <a:rPr lang="en-US" altLang="en-US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O(n)</a:t>
            </a:r>
            <a:endParaRPr lang="en-US" altLang="en-US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buFont typeface="Wingdings" panose="05000000000000000000" charset="0"/>
              <a:buChar char="Ø"/>
            </a:pPr>
            <a:r>
              <a:rPr lang="en-US" altLang="en-US" sz="15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Linear Search</a:t>
            </a:r>
            <a:endParaRPr lang="en-US" altLang="en-US" sz="15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buFont typeface="Wingdings" panose="05000000000000000000" charset="0"/>
              <a:buChar char="Ø"/>
            </a:pPr>
            <a:r>
              <a:rPr lang="en-US" altLang="en-US" sz="15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Finding Maximum Element</a:t>
            </a:r>
            <a:endParaRPr lang="en-US" altLang="en-US" sz="15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buFont typeface="Wingdings" panose="05000000000000000000" charset="0"/>
              <a:buChar char="Ø"/>
            </a:pPr>
            <a:endParaRPr lang="en-US" altLang="en-US" sz="15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l">
              <a:buFont typeface="Wingdings" panose="05000000000000000000" charset="0"/>
              <a:buNone/>
            </a:pPr>
            <a:r>
              <a:rPr lang="en-US" altLang="en-US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O(n log n)</a:t>
            </a:r>
            <a:endParaRPr lang="en-US" altLang="en-US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buFont typeface="Wingdings" panose="05000000000000000000" charset="0"/>
              <a:buChar char="Ø"/>
            </a:pPr>
            <a:r>
              <a:rPr lang="en-US" altLang="en-US" sz="15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Merge Sort</a:t>
            </a:r>
            <a:endParaRPr lang="en-US" altLang="en-US" sz="15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buFont typeface="Wingdings" panose="05000000000000000000" charset="0"/>
              <a:buChar char="Ø"/>
            </a:pPr>
            <a:r>
              <a:rPr lang="en-US" altLang="en-US" sz="15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Heap Sort</a:t>
            </a:r>
            <a:endParaRPr lang="en-US" altLang="en-US" sz="15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buFont typeface="Wingdings" panose="05000000000000000000" charset="0"/>
              <a:buChar char="Ø"/>
            </a:pPr>
            <a:r>
              <a:rPr lang="en-US" altLang="en-US" sz="15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Quick Sort (Average)</a:t>
            </a:r>
            <a:endParaRPr lang="en-US" altLang="en-US" sz="15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buFont typeface="Wingdings" panose="05000000000000000000" charset="0"/>
              <a:buChar char="Ø"/>
            </a:pPr>
            <a:endParaRPr lang="en-US" altLang="en-US" sz="15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l">
              <a:buFont typeface="Wingdings" panose="05000000000000000000" charset="0"/>
              <a:buNone/>
            </a:pPr>
            <a:endParaRPr lang="en-US" altLang="en-US" sz="15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graphicFrame>
        <p:nvGraphicFramePr>
          <p:cNvPr id="4" name="Table 3"/>
          <p:cNvGraphicFramePr/>
          <p:nvPr/>
        </p:nvGraphicFramePr>
        <p:xfrm>
          <a:off x="7816215" y="2480310"/>
          <a:ext cx="388493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2465"/>
                <a:gridCol w="1942465"/>
              </a:tblGrid>
              <a:tr h="381000">
                <a:tc>
                  <a:txBody>
                    <a:bodyPr/>
                    <a:p>
                      <a:r>
                        <a:rPr lang="en-US" sz="1100"/>
                        <a:t>         </a:t>
                      </a:r>
                      <a:r>
                        <a:rPr sz="1100"/>
                        <a:t>Complexity</a:t>
                      </a:r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sz="1100"/>
                        <a:t>              </a:t>
                      </a:r>
                      <a:r>
                        <a:rPr lang="en-US" altLang="en-US" sz="1100"/>
                        <a:t>Growth </a:t>
                      </a:r>
                      <a:endParaRPr lang="en-US" altLang="en-US" sz="1100"/>
                    </a:p>
                  </a:txBody>
                  <a:tcPr marL="0" marR="0" marT="0" marB="0" anchor="ctr" anchorCtr="0"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O(n)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Linear</a:t>
                      </a:r>
                      <a:endParaRPr lang="en-US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O(n log n)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Linearithmic</a:t>
                      </a:r>
                      <a:endParaRPr lang="en-US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O(n²)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Quadratic</a:t>
                      </a:r>
                      <a:endParaRPr lang="en-US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Text Box 9"/>
          <p:cNvSpPr txBox="1"/>
          <p:nvPr/>
        </p:nvSpPr>
        <p:spPr>
          <a:xfrm>
            <a:off x="5686425" y="4848860"/>
            <a:ext cx="4064000" cy="18599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>
              <a:buFont typeface="Wingdings" panose="05000000000000000000" charset="0"/>
              <a:buNone/>
            </a:pP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O(n²)</a:t>
            </a:r>
            <a:endParaRPr lang="en-US" altLang="en-US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buFont typeface="Wingdings" panose="05000000000000000000" charset="0"/>
              <a:buChar char="Ø"/>
            </a:pPr>
            <a:endParaRPr lang="en-US" altLang="en-US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1500">
                <a:latin typeface="Times New Roman" panose="02020603050405020304" charset="0"/>
                <a:cs typeface="Times New Roman" panose="02020603050405020304" charset="0"/>
                <a:sym typeface="+mn-ea"/>
              </a:rPr>
              <a:t>Bubble Sort</a:t>
            </a:r>
            <a:endParaRPr lang="en-US" altLang="en-US" sz="15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1500">
                <a:latin typeface="Times New Roman" panose="02020603050405020304" charset="0"/>
                <a:cs typeface="Times New Roman" panose="02020603050405020304" charset="0"/>
                <a:sym typeface="+mn-ea"/>
              </a:rPr>
              <a:t>Selection Sort</a:t>
            </a:r>
            <a:endParaRPr lang="en-US" altLang="en-US" sz="15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1500">
                <a:latin typeface="Times New Roman" panose="02020603050405020304" charset="0"/>
                <a:cs typeface="Times New Roman" panose="02020603050405020304" charset="0"/>
                <a:sym typeface="+mn-ea"/>
              </a:rPr>
              <a:t>Insertion Sort (Worst Case)</a:t>
            </a:r>
            <a:endParaRPr lang="en-US" altLang="en-US" sz="15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endParaRPr lang="en-US" sz="1500"/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240100" y="198825"/>
            <a:ext cx="10969200" cy="705600"/>
          </a:xfrm>
        </p:spPr>
        <p:txBody>
          <a:bodyPr/>
          <a:p>
            <a:r>
              <a:rPr lang="en-US" altLang="en-US"/>
              <a:t>Assumptions and Input Range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03225" y="1308735"/>
            <a:ext cx="10968990" cy="5329555"/>
          </a:xfrm>
        </p:spPr>
        <p:txBody>
          <a:bodyPr/>
          <a:p>
            <a:pPr marL="0" indent="0">
              <a:buNone/>
            </a:pPr>
            <a:r>
              <a:rPr lang="en-US" altLang="en-US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Assumptions</a:t>
            </a:r>
            <a:endParaRPr lang="en-US" altLang="en-US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Input size represented by n</a:t>
            </a: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All algorithms execute on the same computer</a:t>
            </a: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Constant hardware performance</a:t>
            </a: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Ignore compiler optimizations</a:t>
            </a: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Only asymptotic growth is considered</a:t>
            </a: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Ø"/>
            </a:pP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Font typeface="Wingdings" panose="05000000000000000000" charset="0"/>
              <a:buNone/>
            </a:pPr>
            <a:r>
              <a:rPr lang="en-US" altLang="en-US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Input Range</a:t>
            </a:r>
            <a:endParaRPr lang="en-US" altLang="en-US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Font typeface="Wingdings" panose="05000000000000000000" charset="0"/>
              <a:buNone/>
            </a:pP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N = 10,20,40,80,160,320</a:t>
            </a: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Font typeface="Wingdings" panose="05000000000000000000" charset="0"/>
              <a:buNone/>
            </a:pP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240030" y="5475605"/>
            <a:ext cx="11218545" cy="10020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73425" y="245815"/>
            <a:ext cx="10969200" cy="705600"/>
          </a:xfrm>
        </p:spPr>
        <p:txBody>
          <a:bodyPr/>
          <a:p>
            <a:r>
              <a:rPr lang="en-US" altLang="en-US"/>
              <a:t> Numerical Comparison Table</a:t>
            </a:r>
            <a:endParaRPr lang="en-US" alt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007110" y="1149350"/>
            <a:ext cx="8648065" cy="367792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485775" y="5149850"/>
            <a:ext cx="4064000" cy="1614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Observation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Linear increases slowly.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O(n log n) grows moderately.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O(n²) increases very rapidly.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276930" y="266770"/>
            <a:ext cx="10969200" cy="705600"/>
          </a:xfrm>
        </p:spPr>
        <p:txBody>
          <a:bodyPr/>
          <a:p>
            <a:r>
              <a:rPr lang="en-US" altLang="en-US"/>
              <a:t>Graph Analysis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391795" y="1551940"/>
            <a:ext cx="3123565" cy="3806825"/>
          </a:xfrm>
        </p:spPr>
        <p:txBody>
          <a:bodyPr>
            <a:normAutofit lnSpcReduction="10000"/>
          </a:bodyPr>
          <a:p>
            <a:pPr marL="0" indent="0">
              <a:buFont typeface="Arial" panose="020B0604020202020204" pitchFamily="34" charset="0"/>
              <a:buNone/>
            </a:pP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Graph Interpretation</a:t>
            </a: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X-axis</a:t>
            </a: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Input Size (n)</a:t>
            </a: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Y-axis</a:t>
            </a: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Number of Operations</a:t>
            </a: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Expected Curves</a:t>
            </a: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7" name="Picture 6" descr="ChatGPT Image Jul 21, 2026, 08_08_54 PM"/>
          <p:cNvPicPr>
            <a:picLocks noChangeAspect="1"/>
          </p:cNvPicPr>
          <p:nvPr/>
        </p:nvPicPr>
        <p:blipFill>
          <a:blip r:embed="rId3"/>
          <a:srcRect l="741" t="15257" r="31667"/>
          <a:stretch>
            <a:fillRect/>
          </a:stretch>
        </p:blipFill>
        <p:spPr>
          <a:xfrm>
            <a:off x="4572000" y="718820"/>
            <a:ext cx="6010910" cy="4392295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5545455" y="5282565"/>
            <a:ext cx="406400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en-US" sz="1500"/>
              <a:t>Analysis</a:t>
            </a:r>
            <a:endParaRPr lang="en-US" altLang="en-US" sz="1500"/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en-US" altLang="en-US" sz="1500"/>
              <a:t>O(n) is almost a straight line.</a:t>
            </a:r>
            <a:endParaRPr lang="en-US" altLang="en-US" sz="1500"/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en-US" altLang="en-US" sz="1500"/>
              <a:t>O(n log n) grows faster than linear.</a:t>
            </a:r>
            <a:endParaRPr lang="en-US" altLang="en-US" sz="1500"/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en-US" altLang="en-US" sz="1500"/>
              <a:t>O(n²) becomes extremely steep.</a:t>
            </a:r>
            <a:endParaRPr lang="en-US" altLang="en-US" sz="1500"/>
          </a:p>
        </p:txBody>
      </p:sp>
    </p:spTree>
    <p:custDataLst>
      <p:tags r:id="rId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Comparative Analysis</a:t>
            </a: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525780" y="1842770"/>
            <a:ext cx="11558905" cy="3723640"/>
          </a:xfrm>
        </p:spPr>
        <p:txBody>
          <a:bodyPr/>
          <a:p>
            <a:pPr marL="0" indent="0">
              <a:lnSpc>
                <a:spcPct val="200000"/>
              </a:lnSpc>
              <a:buFont typeface="Wingdings" panose="05000000000000000000" charset="0"/>
              <a:buNone/>
            </a:pP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Which Algorithm Grows Faster?</a:t>
            </a: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lnSpc>
                <a:spcPct val="200000"/>
              </a:lnSpc>
              <a:buFont typeface="Wingdings" panose="05000000000000000000" charset="0"/>
              <a:buNone/>
            </a:pP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575" y="2633345"/>
            <a:ext cx="5963285" cy="178117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8967470" y="798830"/>
            <a:ext cx="1807210" cy="2630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1500" b="1">
                <a:latin typeface="Times New Roman" panose="02020603050405020304" charset="0"/>
                <a:cs typeface="Times New Roman" panose="02020603050405020304" charset="0"/>
              </a:rPr>
              <a:t>Explanation</a:t>
            </a:r>
            <a:endParaRPr lang="en-US" altLang="en-US" sz="1500" b="1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15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500">
                <a:latin typeface="Times New Roman" panose="02020603050405020304" charset="0"/>
                <a:cs typeface="Times New Roman" panose="02020603050405020304" charset="0"/>
              </a:rPr>
              <a:t>For small inputs:</a:t>
            </a:r>
            <a:endParaRPr lang="en-US" altLang="en-US" sz="15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15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500">
                <a:latin typeface="Times New Roman" panose="02020603050405020304" charset="0"/>
                <a:cs typeface="Times New Roman" panose="02020603050405020304" charset="0"/>
              </a:rPr>
              <a:t>n = 10</a:t>
            </a:r>
            <a:endParaRPr lang="en-US" altLang="en-US" sz="15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15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500">
                <a:latin typeface="Times New Roman" panose="02020603050405020304" charset="0"/>
                <a:cs typeface="Times New Roman" panose="02020603050405020304" charset="0"/>
              </a:rPr>
              <a:t>O(n)=10</a:t>
            </a:r>
            <a:endParaRPr lang="en-US" altLang="en-US" sz="15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15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500">
                <a:latin typeface="Times New Roman" panose="02020603050405020304" charset="0"/>
                <a:cs typeface="Times New Roman" panose="02020603050405020304" charset="0"/>
              </a:rPr>
              <a:t>O(n log n)=33</a:t>
            </a:r>
            <a:endParaRPr lang="en-US" altLang="en-US" sz="15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15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500">
                <a:latin typeface="Times New Roman" panose="02020603050405020304" charset="0"/>
                <a:cs typeface="Times New Roman" panose="02020603050405020304" charset="0"/>
              </a:rPr>
              <a:t>O(n²)=100</a:t>
            </a:r>
            <a:endParaRPr lang="en-US" altLang="en-US" sz="15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8967470" y="3800475"/>
            <a:ext cx="2082800" cy="21488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1500">
                <a:latin typeface="Times New Roman" panose="02020603050405020304" charset="0"/>
                <a:cs typeface="Times New Roman" panose="02020603050405020304" charset="0"/>
              </a:rPr>
              <a:t>For large inputs:</a:t>
            </a:r>
            <a:endParaRPr lang="en-US" altLang="en-US" sz="15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15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500">
                <a:latin typeface="Times New Roman" panose="02020603050405020304" charset="0"/>
                <a:cs typeface="Times New Roman" panose="02020603050405020304" charset="0"/>
              </a:rPr>
              <a:t>n = 320</a:t>
            </a:r>
            <a:endParaRPr lang="en-US" altLang="en-US" sz="15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15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500">
                <a:latin typeface="Times New Roman" panose="02020603050405020304" charset="0"/>
                <a:cs typeface="Times New Roman" panose="02020603050405020304" charset="0"/>
              </a:rPr>
              <a:t>O(n)=320</a:t>
            </a:r>
            <a:endParaRPr lang="en-US" altLang="en-US" sz="15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15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500">
                <a:latin typeface="Times New Roman" panose="02020603050405020304" charset="0"/>
                <a:cs typeface="Times New Roman" panose="02020603050405020304" charset="0"/>
              </a:rPr>
              <a:t>O(n log n)=2663</a:t>
            </a:r>
            <a:endParaRPr lang="en-US" altLang="en-US" sz="15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15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500">
                <a:latin typeface="Times New Roman" panose="02020603050405020304" charset="0"/>
                <a:cs typeface="Times New Roman" panose="02020603050405020304" charset="0"/>
              </a:rPr>
              <a:t>O(n²)=102400</a:t>
            </a:r>
            <a:endParaRPr lang="en-US" altLang="en-US" sz="15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709295" y="5867400"/>
            <a:ext cx="76542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Notice that O(n²) grows exponentially faster than the other two.</a:t>
            </a:r>
            <a:endParaRPr lang="en-US" altLang="en-US"/>
          </a:p>
        </p:txBody>
      </p:sp>
    </p:spTree>
    <p:custDataLst>
      <p:tags r:id="rId4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08375" y="303600"/>
            <a:ext cx="10969200" cy="705600"/>
          </a:xfrm>
        </p:spPr>
        <p:txBody>
          <a:bodyPr/>
          <a:p>
            <a:r>
              <a:rPr lang="en-US" altLang="en-US"/>
              <a:t>Conclusion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741680" y="1142365"/>
            <a:ext cx="6978015" cy="2549525"/>
          </a:xfrm>
        </p:spPr>
        <p:txBody>
          <a:bodyPr>
            <a:normAutofit fontScale="90000" lnSpcReduction="10000"/>
          </a:bodyPr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Key Findings</a:t>
            </a: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v"/>
            </a:pP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O(n) is the most efficient among the three.</a:t>
            </a: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v"/>
            </a:pP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O(n log n) provides an excellent balance between speed and functionality.</a:t>
            </a: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v"/>
            </a:pP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O(n²) becomes inefficient as the input size increases.</a:t>
            </a: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8719820" y="1213485"/>
            <a:ext cx="2483485" cy="30918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1500">
                <a:latin typeface="Times New Roman" panose="02020603050405020304" charset="0"/>
                <a:cs typeface="Times New Roman" panose="02020603050405020304" charset="0"/>
              </a:rPr>
              <a:t>Best Performance</a:t>
            </a:r>
            <a:endParaRPr lang="en-US" altLang="en-US" sz="15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15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500">
                <a:latin typeface="Times New Roman" panose="02020603050405020304" charset="0"/>
                <a:cs typeface="Times New Roman" panose="02020603050405020304" charset="0"/>
              </a:rPr>
              <a:t>O(n)</a:t>
            </a:r>
            <a:endParaRPr lang="en-US" altLang="en-US" sz="15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15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500">
                <a:latin typeface="Times New Roman" panose="02020603050405020304" charset="0"/>
                <a:cs typeface="Times New Roman" panose="02020603050405020304" charset="0"/>
              </a:rPr>
              <a:t>↓</a:t>
            </a:r>
            <a:endParaRPr lang="en-US" altLang="en-US" sz="15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15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500">
                <a:latin typeface="Times New Roman" panose="02020603050405020304" charset="0"/>
                <a:cs typeface="Times New Roman" panose="02020603050405020304" charset="0"/>
              </a:rPr>
              <a:t>O(n log n)</a:t>
            </a:r>
            <a:endParaRPr lang="en-US" altLang="en-US" sz="15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15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500">
                <a:latin typeface="Times New Roman" panose="02020603050405020304" charset="0"/>
                <a:cs typeface="Times New Roman" panose="02020603050405020304" charset="0"/>
              </a:rPr>
              <a:t>↓</a:t>
            </a:r>
            <a:endParaRPr lang="en-US" altLang="en-US" sz="15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15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500">
                <a:latin typeface="Times New Roman" panose="02020603050405020304" charset="0"/>
                <a:cs typeface="Times New Roman" panose="02020603050405020304" charset="0"/>
              </a:rPr>
              <a:t>O(n²)</a:t>
            </a:r>
            <a:endParaRPr lang="en-US" altLang="en-US" sz="15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15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500">
                <a:latin typeface="Times New Roman" panose="02020603050405020304" charset="0"/>
                <a:cs typeface="Times New Roman" panose="02020603050405020304" charset="0"/>
              </a:rPr>
              <a:t>Worst Performance</a:t>
            </a:r>
            <a:endParaRPr lang="en-US" altLang="en-US" sz="15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665480" y="5362575"/>
            <a:ext cx="980694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algn="just">
              <a:buFont typeface="Wingdings" panose="05000000000000000000" charset="0"/>
              <a:buChar char="q"/>
            </a:pPr>
            <a:r>
              <a:rPr lang="en-US" altLang="en-US" sz="1500">
                <a:latin typeface="Times New Roman" panose="02020603050405020304" charset="0"/>
                <a:cs typeface="Times New Roman" panose="02020603050405020304" charset="0"/>
              </a:rPr>
              <a:t>As the input size increases, O(n) remains the most scalable, O(n log n) is efficient for sorting and divide-and-conquer algorithms, while O(n²) should generally be avoided for large datasets due to its rapid growth in execution time.</a:t>
            </a:r>
            <a:endParaRPr lang="en-US" altLang="en-US" sz="15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WhatsApp Image 2026-07-18 at 1.47.08 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635" cy="685736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2113</Words>
  <Application>WPS Presentation</Application>
  <PresentationFormat>Widescreen</PresentationFormat>
  <Paragraphs>149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8" baseType="lpstr">
      <vt:lpstr>Arial</vt:lpstr>
      <vt:lpstr>SimSun</vt:lpstr>
      <vt:lpstr>Wingdings</vt:lpstr>
      <vt:lpstr>Wingdings</vt:lpstr>
      <vt:lpstr>Times New Roman</vt:lpstr>
      <vt:lpstr>Microsoft YaHei</vt:lpstr>
      <vt:lpstr>Arial Unicode MS</vt:lpstr>
      <vt:lpstr>Calibri</vt:lpstr>
      <vt:lpstr>WPS</vt:lpstr>
      <vt:lpstr>Introduction to Compiling</vt:lpstr>
      <vt:lpstr>What is a Compiler?</vt:lpstr>
      <vt:lpstr>Phases of a Compiler</vt:lpstr>
      <vt:lpstr>Lexical Analysis</vt:lpstr>
      <vt:lpstr>Role of Lexical Analyzer</vt:lpstr>
      <vt:lpstr>LEX Tool</vt:lpstr>
      <vt:lpstr>Conclusion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Compiling</dc:title>
  <dc:creator>udhay</dc:creator>
  <cp:lastModifiedBy>Udhaya Kumar</cp:lastModifiedBy>
  <cp:revision>2</cp:revision>
  <dcterms:created xsi:type="dcterms:W3CDTF">2026-07-18T08:18:00Z</dcterms:created>
  <dcterms:modified xsi:type="dcterms:W3CDTF">2026-07-21T14:49:32Z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1033-12.1.0.27458</vt:lpwstr>
  </property>
  <property fmtid="{D5CDD505-2E9C-101B-9397-08002B2CF9AE}" pid="3" name="ICV">
    <vt:lpwstr>F2C75EECADD54EA2899D577D08F3D48A_13</vt:lpwstr>
  </property>
</Properties>
</file>